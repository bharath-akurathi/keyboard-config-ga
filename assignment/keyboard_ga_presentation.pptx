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74320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20040" y="96012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Keyboard Configuration</a:t>
            </a:r>
            <a:endParaRPr lang="en-US" sz="4800" dirty="0"/>
          </a:p>
        </p:txBody>
      </p:sp>
      <p:sp>
        <p:nvSpPr>
          <p:cNvPr id="6" name="Text 3"/>
          <p:cNvSpPr/>
          <p:nvPr/>
        </p:nvSpPr>
        <p:spPr>
          <a:xfrm>
            <a:off x="320040" y="1691640"/>
            <a:ext cx="85039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Genetic Algorithm</a:t>
            </a:r>
            <a:endParaRPr lang="en-US" sz="4800" dirty="0"/>
          </a:p>
        </p:txBody>
      </p:sp>
      <p:sp>
        <p:nvSpPr>
          <p:cNvPr id="7" name="Shape 4"/>
          <p:cNvSpPr/>
          <p:nvPr/>
        </p:nvSpPr>
        <p:spPr>
          <a:xfrm>
            <a:off x="320040" y="2542032"/>
            <a:ext cx="502920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20040" y="267004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Bio-Inspired Optimization for Ergonomic Typing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320040" y="3246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Artificial Intelligence  |  Computer Science  |  Carpalx Biomechanical Model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17920" y="4206240"/>
            <a:ext cx="2560320" cy="685800"/>
          </a:xfrm>
          <a:prstGeom prst="roundRect">
            <a:avLst>
              <a:gd name="adj" fmla="val 13333"/>
            </a:avLst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17920" y="42062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49.4% (English)  |  49.6% (Java)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411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 with QWERTY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world's most common keyboard is hurting your hands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65760" y="1005840"/>
            <a:ext cx="4754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QWERTY was designed in 1873 for mechanical typewriters — to prevent type-arm jams, not to protect hands.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4754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letters placed far from home row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workload on weak pinky &amp; ring fingers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pairs (TH, HE, ER) force awkward reaches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Left/right hand imbalance — left hand overloaded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Contributes to RSI, Carpal Tunnel, Tendonitis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394960" y="96012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QWERTY Layout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349240" y="1371600"/>
            <a:ext cx="301752" cy="301752"/>
          </a:xfrm>
          <a:prstGeom prst="roundRect">
            <a:avLst>
              <a:gd name="adj" fmla="val 1212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49240" y="137160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73852" y="1371600"/>
            <a:ext cx="301752" cy="301752"/>
          </a:xfrm>
          <a:prstGeom prst="roundRect">
            <a:avLst>
              <a:gd name="adj" fmla="val 12121"/>
            </a:avLst>
          </a:prstGeom>
          <a:solidFill>
            <a:srgbClr val="1D4ED8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73852" y="137160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98464" y="1371600"/>
            <a:ext cx="301752" cy="301752"/>
          </a:xfrm>
          <a:prstGeom prst="roundRect">
            <a:avLst>
              <a:gd name="adj" fmla="val 12121"/>
            </a:avLst>
          </a:prstGeom>
          <a:solidFill>
            <a:srgbClr val="EF4444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98464" y="137160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323076" y="1371600"/>
            <a:ext cx="301752" cy="301752"/>
          </a:xfrm>
          <a:prstGeom prst="roundRect">
            <a:avLst>
              <a:gd name="adj" fmla="val 12121"/>
            </a:avLst>
          </a:prstGeom>
          <a:solidFill>
            <a:srgbClr val="D97706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23076" y="137160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647688" y="1371600"/>
            <a:ext cx="301752" cy="301752"/>
          </a:xfrm>
          <a:prstGeom prst="roundRect">
            <a:avLst>
              <a:gd name="adj" fmla="val 12121"/>
            </a:avLst>
          </a:prstGeom>
          <a:solidFill>
            <a:srgbClr val="EF4444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47688" y="137160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972300" y="1371600"/>
            <a:ext cx="301752" cy="301752"/>
          </a:xfrm>
          <a:prstGeom prst="roundRect">
            <a:avLst>
              <a:gd name="adj" fmla="val 12121"/>
            </a:avLst>
          </a:prstGeom>
          <a:solidFill>
            <a:srgbClr val="1D4ED8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72300" y="137160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296912" y="1371600"/>
            <a:ext cx="301752" cy="301752"/>
          </a:xfrm>
          <a:prstGeom prst="roundRect">
            <a:avLst>
              <a:gd name="adj" fmla="val 12121"/>
            </a:avLst>
          </a:prstGeom>
          <a:solidFill>
            <a:srgbClr val="1D4ED8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96912" y="137160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621524" y="1371600"/>
            <a:ext cx="301752" cy="301752"/>
          </a:xfrm>
          <a:prstGeom prst="roundRect">
            <a:avLst>
              <a:gd name="adj" fmla="val 12121"/>
            </a:avLst>
          </a:prstGeom>
          <a:solidFill>
            <a:srgbClr val="D97706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21524" y="137160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946136" y="1371600"/>
            <a:ext cx="301752" cy="301752"/>
          </a:xfrm>
          <a:prstGeom prst="roundRect">
            <a:avLst>
              <a:gd name="adj" fmla="val 12121"/>
            </a:avLst>
          </a:prstGeom>
          <a:solidFill>
            <a:srgbClr val="EF4444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46136" y="137160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270748" y="1371600"/>
            <a:ext cx="301752" cy="301752"/>
          </a:xfrm>
          <a:prstGeom prst="roundRect">
            <a:avLst>
              <a:gd name="adj" fmla="val 12121"/>
            </a:avLst>
          </a:prstGeom>
          <a:solidFill>
            <a:srgbClr val="1D4ED8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270748" y="137160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532120" y="1965960"/>
            <a:ext cx="301752" cy="301752"/>
          </a:xfrm>
          <a:prstGeom prst="roundRect">
            <a:avLst>
              <a:gd name="adj" fmla="val 12121"/>
            </a:avLst>
          </a:prstGeom>
          <a:solidFill>
            <a:srgbClr val="EF4444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32120" y="196596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856732" y="1965960"/>
            <a:ext cx="301752" cy="301752"/>
          </a:xfrm>
          <a:prstGeom prst="roundRect">
            <a:avLst>
              <a:gd name="adj" fmla="val 12121"/>
            </a:avLst>
          </a:prstGeom>
          <a:solidFill>
            <a:srgbClr val="D97706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856732" y="196596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181344" y="1965960"/>
            <a:ext cx="301752" cy="301752"/>
          </a:xfrm>
          <a:prstGeom prst="roundRect">
            <a:avLst>
              <a:gd name="adj" fmla="val 12121"/>
            </a:avLst>
          </a:prstGeom>
          <a:solidFill>
            <a:srgbClr val="1D4ED8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81344" y="196596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505956" y="1965960"/>
            <a:ext cx="301752" cy="301752"/>
          </a:xfrm>
          <a:prstGeom prst="roundRect">
            <a:avLst>
              <a:gd name="adj" fmla="val 12121"/>
            </a:avLst>
          </a:prstGeom>
          <a:solidFill>
            <a:srgbClr val="1D4ED8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05956" y="196596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830568" y="1965960"/>
            <a:ext cx="301752" cy="301752"/>
          </a:xfrm>
          <a:prstGeom prst="roundRect">
            <a:avLst>
              <a:gd name="adj" fmla="val 12121"/>
            </a:avLst>
          </a:prstGeom>
          <a:solidFill>
            <a:srgbClr val="1D4ED8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30568" y="196596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155180" y="1965960"/>
            <a:ext cx="301752" cy="301752"/>
          </a:xfrm>
          <a:prstGeom prst="roundRect">
            <a:avLst>
              <a:gd name="adj" fmla="val 12121"/>
            </a:avLst>
          </a:prstGeom>
          <a:solidFill>
            <a:srgbClr val="D97706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55180" y="196596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479792" y="1965960"/>
            <a:ext cx="301752" cy="301752"/>
          </a:xfrm>
          <a:prstGeom prst="roundRect">
            <a:avLst>
              <a:gd name="adj" fmla="val 1212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479792" y="196596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804404" y="1965960"/>
            <a:ext cx="301752" cy="301752"/>
          </a:xfrm>
          <a:prstGeom prst="roundRect">
            <a:avLst>
              <a:gd name="adj" fmla="val 1212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804404" y="196596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129016" y="1965960"/>
            <a:ext cx="301752" cy="301752"/>
          </a:xfrm>
          <a:prstGeom prst="roundRect">
            <a:avLst>
              <a:gd name="adj" fmla="val 12121"/>
            </a:avLst>
          </a:prstGeom>
          <a:solidFill>
            <a:srgbClr val="1D4ED8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129016" y="196596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453628" y="1965960"/>
            <a:ext cx="301752" cy="301752"/>
          </a:xfrm>
          <a:prstGeom prst="roundRect">
            <a:avLst>
              <a:gd name="adj" fmla="val 1212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453628" y="196596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15000" y="2560320"/>
            <a:ext cx="301752" cy="301752"/>
          </a:xfrm>
          <a:prstGeom prst="roundRect">
            <a:avLst>
              <a:gd name="adj" fmla="val 1212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15000" y="256032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39612" y="2560320"/>
            <a:ext cx="301752" cy="301752"/>
          </a:xfrm>
          <a:prstGeom prst="roundRect">
            <a:avLst>
              <a:gd name="adj" fmla="val 1212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39612" y="256032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364224" y="2560320"/>
            <a:ext cx="301752" cy="301752"/>
          </a:xfrm>
          <a:prstGeom prst="roundRect">
            <a:avLst>
              <a:gd name="adj" fmla="val 12121"/>
            </a:avLst>
          </a:prstGeom>
          <a:solidFill>
            <a:srgbClr val="1D4ED8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64224" y="256032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688836" y="2560320"/>
            <a:ext cx="301752" cy="301752"/>
          </a:xfrm>
          <a:prstGeom prst="roundRect">
            <a:avLst>
              <a:gd name="adj" fmla="val 1212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688836" y="256032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13448" y="2560320"/>
            <a:ext cx="301752" cy="301752"/>
          </a:xfrm>
          <a:prstGeom prst="roundRect">
            <a:avLst>
              <a:gd name="adj" fmla="val 1212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13448" y="256032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338060" y="2560320"/>
            <a:ext cx="301752" cy="301752"/>
          </a:xfrm>
          <a:prstGeom prst="roundRect">
            <a:avLst>
              <a:gd name="adj" fmla="val 12121"/>
            </a:avLst>
          </a:prstGeom>
          <a:solidFill>
            <a:srgbClr val="D97706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338060" y="256032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662672" y="2560320"/>
            <a:ext cx="301752" cy="301752"/>
          </a:xfrm>
          <a:prstGeom prst="roundRect">
            <a:avLst>
              <a:gd name="adj" fmla="val 12121"/>
            </a:avLst>
          </a:prstGeom>
          <a:solidFill>
            <a:srgbClr val="1D4ED8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62672" y="256032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987284" y="2560320"/>
            <a:ext cx="301752" cy="301752"/>
          </a:xfrm>
          <a:prstGeom prst="roundRect">
            <a:avLst>
              <a:gd name="adj" fmla="val 1212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987284" y="256032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8311896" y="2560320"/>
            <a:ext cx="301752" cy="301752"/>
          </a:xfrm>
          <a:prstGeom prst="roundRect">
            <a:avLst>
              <a:gd name="adj" fmla="val 1212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311896" y="256032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8636508" y="2560320"/>
            <a:ext cx="301752" cy="301752"/>
          </a:xfrm>
          <a:prstGeom prst="roundRect">
            <a:avLst>
              <a:gd name="adj" fmla="val 1212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636508" y="256032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5394960" y="3063240"/>
            <a:ext cx="164592" cy="164592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577840" y="30358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freq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6537960" y="3063240"/>
            <a:ext cx="164592" cy="1645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720840" y="30358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 freq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680960" y="3063240"/>
            <a:ext cx="164592" cy="16459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863840" y="303580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freq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365760" y="4206240"/>
            <a:ext cx="8412480" cy="685800"/>
          </a:xfrm>
          <a:prstGeom prst="rect">
            <a:avLst/>
          </a:prstGeom>
          <a:solidFill>
            <a:srgbClr val="162233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5" name="Text 73"/>
          <p:cNvSpPr/>
          <p:nvPr/>
        </p:nvSpPr>
        <p:spPr>
          <a:xfrm>
            <a:off x="365760" y="420624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30!  =  2.65 × 10³²  possible keyboard arrangements  —  too many to search exhaustively  →  Genetic Algorithm required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411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Medical Impact of Typing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caused or worsened by inefficient keyboard layouts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51560"/>
            <a:ext cx="4023360" cy="1508760"/>
          </a:xfrm>
          <a:prstGeom prst="rect">
            <a:avLst/>
          </a:prstGeom>
          <a:solidFill>
            <a:srgbClr val="162233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23444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116128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Carpal Tunnel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Syndrome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30352" y="1764792"/>
            <a:ext cx="3657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nerve compressed by inflamed tendons. Numbness &amp; weakness in thumb/index fingers.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051560"/>
            <a:ext cx="4023360" cy="1508760"/>
          </a:xfrm>
          <a:prstGeom prst="rect">
            <a:avLst/>
          </a:prstGeom>
          <a:solidFill>
            <a:srgbClr val="162233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23444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49240" y="116128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Tendonitis /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Tenosynovitis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4828032" y="1764792"/>
            <a:ext cx="3657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Tendon inflammation from repetitive micro-movements. Pain along the back of the hand.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365760" y="2743200"/>
            <a:ext cx="4023360" cy="1508760"/>
          </a:xfrm>
          <a:prstGeom prst="rect">
            <a:avLst/>
          </a:prstGeom>
          <a:solidFill>
            <a:srgbClr val="162233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92608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051560" y="285292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Osteoarthritis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Aggravation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530352" y="3456432"/>
            <a:ext cx="3657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Keypress micro-impacts worsen existing cartilage degradation in finger joints.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663440" y="2743200"/>
            <a:ext cx="4023360" cy="1508760"/>
          </a:xfrm>
          <a:prstGeom prst="rect">
            <a:avLst/>
          </a:prstGeom>
          <a:solidFill>
            <a:srgbClr val="162233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2926080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349240" y="285292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Trigger Finger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4828032" y="3456432"/>
            <a:ext cx="36576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Narrowed sheath causes finger to lock in bent position — common in the dominant typing hand.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411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a Genetic Algorithm?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Nature-inspired search — mimicking Darwinian evolution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822960"/>
            <a:ext cx="1005840" cy="1005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960120"/>
            <a:ext cx="7223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Genetic Algorithm (GA) is an optimization technique modelled on natural selection. It starts with a population of random solutions and evolves them over thousands of generations — selecting the fittest, combining them, and introducing random mutations — until a near-optimal solution emerges.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20040" y="2103120"/>
            <a:ext cx="1508760" cy="1417320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320040" y="2121408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320040" y="2487168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20040" y="283464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1828800" y="2807208"/>
            <a:ext cx="201168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29968" y="2103120"/>
            <a:ext cx="1508760" cy="1417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2029968" y="2121408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2029968" y="2487168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029968" y="283464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Fitness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538728" y="2807208"/>
            <a:ext cx="201168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739896" y="2103120"/>
            <a:ext cx="1508760" cy="1417320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3739896" y="2121408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3739896" y="2487168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3739896" y="283464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Tournament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248656" y="2807208"/>
            <a:ext cx="201168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49824" y="2103120"/>
            <a:ext cx="1508760" cy="14173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5449824" y="2121408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5449824" y="2487168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Breed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449824" y="283464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Crossover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Mutation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958584" y="2807208"/>
            <a:ext cx="201168" cy="0"/>
          </a:xfrm>
          <a:prstGeom prst="line">
            <a:avLst/>
          </a:prstGeom>
          <a:noFill/>
          <a:ln w="12700">
            <a:solidFill>
              <a:srgbClr val="0D948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159752" y="2103120"/>
            <a:ext cx="1508760" cy="1417320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7159752" y="2121408"/>
            <a:ext cx="1508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7159752" y="2487168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159752" y="2834640"/>
            <a:ext cx="1508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generations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20040" y="3794760"/>
            <a:ext cx="8275320" cy="4572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20040" y="3858768"/>
            <a:ext cx="8275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Loop until 1,000 generations complete or no improvement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365760" y="4251960"/>
            <a:ext cx="8412480" cy="640080"/>
          </a:xfrm>
          <a:prstGeom prst="rect">
            <a:avLst/>
          </a:prstGeom>
          <a:solidFill>
            <a:srgbClr val="162233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365760" y="42519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GA?  The keyboard search space has 30! ≈ 2.65 × 10³² possibilities. No exact algorithm can search this — evolution can.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411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 Concepts → Keyboard Problem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genetic algorithm concept maps directly to a keyboard design decision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384048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0F4F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GA Concept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0F4F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Keyboard Mapping</a:t>
                      </a:r>
                      <a:endParaRPr lang="en-US" sz="12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94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EEA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Chromosome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complete 30-key layout  (Python list of 30 characters)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EEA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single character at a specific key position (index = physical slot)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EEA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randomly generated keyboard layouts evolving together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EEA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Fitness Function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÷ Carpalx effort score   →   lower effort = higher fitness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EEA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Tournament: pick best from 5 random layouts to become a parent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EEA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Crossover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OX1 Order Crossover — combines two parents, always valid permutation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EEA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Swap two random keys with 8% probability per child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EEA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Elitism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10% survive unchanged into the next generation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EEA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1,000 generations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411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Fitness Function — Carpalx Model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algorithm measures whether a layout is ergonomic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8412480" cy="658368"/>
          </a:xfrm>
          <a:prstGeom prst="rect">
            <a:avLst/>
          </a:prstGeom>
          <a:solidFill>
            <a:srgbClr val="0A2540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60120"/>
            <a:ext cx="8412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EEA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Fitness  =  1 ÷  Σ  ( K1·e₁ + K2·e₂ + K3·e₃ )  ×  freq(trigram)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1783080"/>
            <a:ext cx="4023360" cy="1325880"/>
          </a:xfrm>
          <a:prstGeom prst="rect">
            <a:avLst/>
          </a:prstGeom>
          <a:solidFill>
            <a:srgbClr val="162233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1783080"/>
            <a:ext cx="64008" cy="13258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8745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Trigram Path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2331720"/>
            <a:ext cx="3703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K1=1.0, K2=0.367, K3=0.235 — each key in a 3-char sequence weighted by position. 2nd and 3rd keys cost less (finger already moving).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1783080"/>
            <a:ext cx="4023360" cy="1325880"/>
          </a:xfrm>
          <a:prstGeom prst="rect">
            <a:avLst/>
          </a:prstGeom>
          <a:solidFill>
            <a:srgbClr val="162233"/>
          </a:solidFill>
          <a:ln w="12700">
            <a:solidFill>
              <a:srgbClr val="EF444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783080"/>
            <a:ext cx="64008" cy="13258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8745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Same-Finger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Penalty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846320" y="2331720"/>
            <a:ext cx="3703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+1.5× the key's effort when two consecutive keys use the same finger. Primary mechanical cause of RSI.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3246120"/>
            <a:ext cx="4023360" cy="1325880"/>
          </a:xfrm>
          <a:prstGeom prst="rect">
            <a:avLst/>
          </a:prstGeom>
          <a:solidFill>
            <a:srgbClr val="162233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3246120"/>
            <a:ext cx="64008" cy="13258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3756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Same-Hand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Penalty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3794760"/>
            <a:ext cx="3703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 when all 3 keys in a trigram land on one hand. Encourages hand alternation.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3246120"/>
            <a:ext cx="4023360" cy="1325880"/>
          </a:xfrm>
          <a:prstGeom prst="rect">
            <a:avLst/>
          </a:prstGeom>
          <a:solidFill>
            <a:srgbClr val="162233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63440" y="3246120"/>
            <a:ext cx="64008" cy="1325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333756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Hand Balance</a:t>
            </a:r>
            <a:endParaRPr lang="en-US" sz="1250" dirty="0"/>
          </a:p>
          <a:p>
            <a:pPr indent="0" marL="0">
              <a:buNone/>
            </a:pPr>
            <a:r>
              <a:rPr lang="en-US" sz="125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Penalty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846320" y="3794760"/>
            <a:ext cx="370332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left/right load imbalance across all bigrams. Max penalty = 200 for fully one-sided layouts.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411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Dataset — Carpalx Corpus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text drives real optimization — not toy frequencies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822960"/>
            <a:ext cx="914400" cy="914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1005840"/>
            <a:ext cx="2560320" cy="1234440"/>
          </a:xfrm>
          <a:prstGeom prst="rect">
            <a:avLst/>
          </a:prstGeom>
          <a:solidFill>
            <a:srgbClr val="162233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365760" y="1078992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2,373,664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365760" y="175564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characters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processed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00400" y="1005840"/>
            <a:ext cx="2560320" cy="1234440"/>
          </a:xfrm>
          <a:prstGeom prst="rect">
            <a:avLst/>
          </a:prstGeom>
          <a:solidFill>
            <a:srgbClr val="162233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200400" y="1078992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806</a:t>
            </a:r>
            <a:endParaRPr lang="en-US" sz="4200" dirty="0"/>
          </a:p>
        </p:txBody>
      </p:sp>
      <p:sp>
        <p:nvSpPr>
          <p:cNvPr id="11" name="Text 8"/>
          <p:cNvSpPr/>
          <p:nvPr/>
        </p:nvSpPr>
        <p:spPr>
          <a:xfrm>
            <a:off x="3200400" y="175564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bigrams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035040" y="1005840"/>
            <a:ext cx="2560320" cy="1234440"/>
          </a:xfrm>
          <a:prstGeom prst="rect">
            <a:avLst/>
          </a:prstGeom>
          <a:solidFill>
            <a:srgbClr val="162233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035040" y="1078992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6,978</a:t>
            </a:r>
            <a:endParaRPr lang="en-US" sz="4200" dirty="0"/>
          </a:p>
        </p:txBody>
      </p:sp>
      <p:sp>
        <p:nvSpPr>
          <p:cNvPr id="14" name="Text 11"/>
          <p:cNvSpPr/>
          <p:nvPr/>
        </p:nvSpPr>
        <p:spPr>
          <a:xfrm>
            <a:off x="6035040" y="175564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trigrams used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(after pruning)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365760" y="251460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14 Classic Novels in the Carpalx corpus: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365760" y="2926080"/>
            <a:ext cx="40233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Alice's Adventures in Wonderland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Dracula — Bram Stoker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Expectations — Dickens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Picture of Dorian Gray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Huckleberry Finn — Twain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Jane Eyre — Charlotte Brontë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Moby-Dick — Melville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663440" y="2926080"/>
            <a:ext cx="40233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 of Monte Cristo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Pride and Prejudice — Austen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 and Sensibility — Austen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Adventures of Sherlock Holmes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Sawyer — Mark Twain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Ulysses — James Joyce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Walden — Thoreau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411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Algorithm — Step by Step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GA evolves a better keyboard over 1,000 generations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822960"/>
            <a:ext cx="914400" cy="914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47472" y="1005840"/>
            <a:ext cx="457200" cy="4389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47472" y="1005840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22960" y="1005840"/>
            <a:ext cx="7973568" cy="438912"/>
          </a:xfrm>
          <a:prstGeom prst="rect">
            <a:avLst/>
          </a:prstGeom>
          <a:solidFill>
            <a:srgbClr val="162233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100584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 corpus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books_short.txt → extract 806 bigrams + 6,978 trigrams, normalize to per-1000 rates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7472" y="1513332"/>
            <a:ext cx="457200" cy="438912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47472" y="1513332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22960" y="1513332"/>
            <a:ext cx="7973568" cy="438912"/>
          </a:xfrm>
          <a:prstGeom prst="rect">
            <a:avLst/>
          </a:prstGeom>
          <a:solidFill>
            <a:srgbClr val="1A3A5C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1513332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Initialize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200 random keyboard layouts — every character appears exactly once (valid permutations)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47472" y="2020824"/>
            <a:ext cx="457200" cy="4389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47472" y="2020824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822960" y="2020824"/>
            <a:ext cx="7973568" cy="438912"/>
          </a:xfrm>
          <a:prstGeom prst="rect">
            <a:avLst/>
          </a:prstGeom>
          <a:solidFill>
            <a:srgbClr val="162233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2020824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Evaluate fitness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each layout using the Carpalx effort formula. fitness = 1 / total_effort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47472" y="2528316"/>
            <a:ext cx="457200" cy="438912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7472" y="2528316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22960" y="2528316"/>
            <a:ext cx="7973568" cy="438912"/>
          </a:xfrm>
          <a:prstGeom prst="rect">
            <a:avLst/>
          </a:prstGeom>
          <a:solidFill>
            <a:srgbClr val="1A3A5C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4400" y="2528316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Elitism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top 10% (20 layouts) unchanged to the next generation — never lose a good layout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347472" y="3035808"/>
            <a:ext cx="457200" cy="4389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47472" y="3035808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822960" y="3035808"/>
            <a:ext cx="7973568" cy="438912"/>
          </a:xfrm>
          <a:prstGeom prst="rect">
            <a:avLst/>
          </a:prstGeom>
          <a:solidFill>
            <a:srgbClr val="162233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14400" y="3035808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Tournament selection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5 random layouts, pick the best-scoring one as Parent 1. Repeat for Parent 2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347472" y="3543300"/>
            <a:ext cx="457200" cy="438912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47472" y="3543300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822960" y="3543300"/>
            <a:ext cx="7973568" cy="438912"/>
          </a:xfrm>
          <a:prstGeom prst="rect">
            <a:avLst/>
          </a:prstGeom>
          <a:solidFill>
            <a:srgbClr val="1A3A5C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14400" y="3543300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OX1 Crossover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a random segment from P1 into child, fill remaining slots from P2 in order — always valid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347472" y="4050792"/>
            <a:ext cx="457200" cy="43891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47472" y="4050792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22960" y="4050792"/>
            <a:ext cx="7973568" cy="438912"/>
          </a:xfrm>
          <a:prstGeom prst="rect">
            <a:avLst/>
          </a:prstGeom>
          <a:solidFill>
            <a:srgbClr val="162233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914400" y="4050792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Swap Mutation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8% probability, swap two random keys in the child layout to maintain diversity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347472" y="4558284"/>
            <a:ext cx="457200" cy="438912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347472" y="4558284"/>
            <a:ext cx="457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822960" y="4558284"/>
            <a:ext cx="7973568" cy="438912"/>
          </a:xfrm>
          <a:prstGeom prst="rect">
            <a:avLst/>
          </a:prstGeom>
          <a:solidFill>
            <a:srgbClr val="1A3A5C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4400" y="4558284"/>
            <a:ext cx="7772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Repeat  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old population with new generation. Repeat steps 3–7 for 1,000 generations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411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  —  English Prose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generations  |  Population 200  |  books_short.txt  |  2,373,664 characters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37160"/>
            <a:ext cx="822960" cy="822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960120"/>
            <a:ext cx="8412480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65760" y="96012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49.4%</a:t>
            </a:r>
            <a:endParaRPr lang="en-US" sz="5800" dirty="0"/>
          </a:p>
        </p:txBody>
      </p:sp>
      <p:sp>
        <p:nvSpPr>
          <p:cNvPr id="8" name="Text 5"/>
          <p:cNvSpPr/>
          <p:nvPr/>
        </p:nvSpPr>
        <p:spPr>
          <a:xfrm>
            <a:off x="3108960" y="1051560"/>
            <a:ext cx="5303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 in typing effort vs QWERTY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3108960" y="146304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1FA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3,521.37  →  1,781.59  Carpalx effort units   |   converged at Gen ~500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993392"/>
          <a:ext cx="8412480" cy="2834640"/>
        </p:xfrm>
        <a:graphic>
          <a:graphicData uri="http://schemas.openxmlformats.org/drawingml/2006/table">
            <a:tbl>
              <a:tblPr/>
              <a:tblGrid>
                <a:gridCol w="3657600"/>
                <a:gridCol w="2377440"/>
                <a:gridCol w="2377440"/>
              </a:tblGrid>
              <a:tr h="4049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0F4F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Metric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F4444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QWERTY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GA Optimized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Effort score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3,521.37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1,781.59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3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Finger travel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Reduced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row frequent keys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3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Pinky / ring load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Heavy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 balance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Uneven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 / 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3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Same-finger bigrams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411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  —  Java Code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generations  |  Population 200  |  java.txt  |  1,467,254 characters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37160"/>
            <a:ext cx="822960" cy="822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960120"/>
            <a:ext cx="8412480" cy="914400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5760" y="960120"/>
            <a:ext cx="2743200" cy="9144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365760" y="960120"/>
            <a:ext cx="2743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49.6%</a:t>
            </a:r>
            <a:endParaRPr lang="en-US" sz="5800" dirty="0"/>
          </a:p>
        </p:txBody>
      </p:sp>
      <p:sp>
        <p:nvSpPr>
          <p:cNvPr id="9" name="Text 6"/>
          <p:cNvSpPr/>
          <p:nvPr/>
        </p:nvSpPr>
        <p:spPr>
          <a:xfrm>
            <a:off x="3108960" y="1051560"/>
            <a:ext cx="5303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Reduction in typing effort vs QWERTY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3108960" y="146304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1FA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3,745.99  →  1,886.61  Carpalx effort units   |   converged at Gen ~400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993392"/>
          <a:ext cx="8412480" cy="2834640"/>
        </p:xfrm>
        <a:graphic>
          <a:graphicData uri="http://schemas.openxmlformats.org/drawingml/2006/table">
            <a:tbl>
              <a:tblPr/>
              <a:tblGrid>
                <a:gridCol w="3657600"/>
                <a:gridCol w="2377440"/>
                <a:gridCol w="2377440"/>
              </a:tblGrid>
              <a:tr h="4049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0F4F8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Metric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F4444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QWERTY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GA Optimized (Java)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Effort score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3,745.99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1,886.61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3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Finger travel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Reduced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Semicolon ; placement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row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row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3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Vowels on home row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I, U, 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 balance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Uneven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 / 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33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0F4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Same-finger bigrams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4B8A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411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Optimized Layout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result after 1,000 generations on the Carpalx literary corpus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20040" y="9601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QWERTY  (Baseline)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" y="1389888"/>
            <a:ext cx="411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5895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895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12471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471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49047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6B2D1A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9047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85623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6B2D1A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5623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22199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6B2D1A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2199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58775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8775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95351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5351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1927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6B2D1A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1927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8503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6B2D1A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8503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05079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05079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20040" y="2048256"/>
            <a:ext cx="411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5895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0D9488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895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12471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5276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49047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9047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85623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85623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22199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2199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58775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5276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8775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95351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5351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31927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31927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68503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5276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8503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05079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05079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20040" y="2706624"/>
            <a:ext cx="411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75895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895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12471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12471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149047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49047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185623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85623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22199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22199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258775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6B2D1A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8775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295351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95351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31927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1927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68503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68503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05079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05079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663440" y="9601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 Optimized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4663440" y="1389888"/>
            <a:ext cx="411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510235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235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46811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46811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583387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83387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19963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9963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6539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6539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93115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93115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29691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29691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66267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66267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802843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2843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39419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39419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4663440" y="2048256"/>
            <a:ext cx="411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HME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510235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510235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546811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546811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583387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5276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83387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619963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5276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19963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656539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56539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693115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0D9488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93115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729691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0D9488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729691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766267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766267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802843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02843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839419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839419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875995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875995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/>
          </a:p>
        </p:txBody>
      </p:sp>
      <p:sp>
        <p:nvSpPr>
          <p:cNvPr id="114" name="Text 112"/>
          <p:cNvSpPr/>
          <p:nvPr/>
        </p:nvSpPr>
        <p:spPr>
          <a:xfrm>
            <a:off x="4663440" y="2706624"/>
            <a:ext cx="411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510235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10235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546811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46811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583387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6B2D1A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83387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619963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6B2D1A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19963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000" dirty="0"/>
          </a:p>
        </p:txBody>
      </p:sp>
      <p:sp>
        <p:nvSpPr>
          <p:cNvPr id="123" name="Shape 121"/>
          <p:cNvSpPr/>
          <p:nvPr/>
        </p:nvSpPr>
        <p:spPr>
          <a:xfrm>
            <a:off x="656539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6B2D1A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56539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693115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6B2D1A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693115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000" dirty="0"/>
          </a:p>
        </p:txBody>
      </p:sp>
      <p:sp>
        <p:nvSpPr>
          <p:cNvPr id="127" name="Shape 125"/>
          <p:cNvSpPr/>
          <p:nvPr/>
        </p:nvSpPr>
        <p:spPr>
          <a:xfrm>
            <a:off x="729691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6B2D1A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729691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000" dirty="0"/>
          </a:p>
        </p:txBody>
      </p:sp>
      <p:sp>
        <p:nvSpPr>
          <p:cNvPr id="129" name="Shape 127"/>
          <p:cNvSpPr/>
          <p:nvPr/>
        </p:nvSpPr>
        <p:spPr>
          <a:xfrm>
            <a:off x="766267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6B2D1A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766267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000" dirty="0"/>
          </a:p>
        </p:txBody>
      </p:sp>
      <p:sp>
        <p:nvSpPr>
          <p:cNvPr id="131" name="Shape 129"/>
          <p:cNvSpPr/>
          <p:nvPr/>
        </p:nvSpPr>
        <p:spPr>
          <a:xfrm>
            <a:off x="802843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802843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000" dirty="0"/>
          </a:p>
        </p:txBody>
      </p:sp>
      <p:sp>
        <p:nvSpPr>
          <p:cNvPr id="133" name="Shape 131"/>
          <p:cNvSpPr/>
          <p:nvPr/>
        </p:nvSpPr>
        <p:spPr>
          <a:xfrm>
            <a:off x="839419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839419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000" dirty="0"/>
          </a:p>
        </p:txBody>
      </p:sp>
      <p:sp>
        <p:nvSpPr>
          <p:cNvPr id="135" name="Shape 133"/>
          <p:cNvSpPr/>
          <p:nvPr/>
        </p:nvSpPr>
        <p:spPr>
          <a:xfrm>
            <a:off x="4572000" y="960120"/>
            <a:ext cx="0" cy="2743200"/>
          </a:xfrm>
          <a:prstGeom prst="line">
            <a:avLst/>
          </a:prstGeom>
          <a:noFill/>
          <a:ln w="12700">
            <a:solidFill>
              <a:srgbClr val="0D9488"/>
            </a:solidFill>
            <a:prstDash val="dash"/>
          </a:ln>
        </p:spPr>
      </p:sp>
      <p:sp>
        <p:nvSpPr>
          <p:cNvPr id="136" name="Shape 134"/>
          <p:cNvSpPr/>
          <p:nvPr/>
        </p:nvSpPr>
        <p:spPr>
          <a:xfrm>
            <a:off x="320040" y="4041648"/>
            <a:ext cx="201168" cy="2011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566928" y="40233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Vowel (home row)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3154680" y="4041648"/>
            <a:ext cx="201168" cy="201168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3401568" y="40233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freq (home)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5989320" y="4041648"/>
            <a:ext cx="201168" cy="201168"/>
          </a:xfrm>
          <a:prstGeom prst="rect">
            <a:avLst/>
          </a:prstGeom>
          <a:solidFill>
            <a:srgbClr val="6B2D1A"/>
          </a:solidFill>
          <a:ln w="12700">
            <a:solidFill>
              <a:srgbClr val="6B2D1A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236208" y="40233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freq (off-row)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320040" y="4370832"/>
            <a:ext cx="8503920" cy="594360"/>
          </a:xfrm>
          <a:prstGeom prst="rect">
            <a:avLst/>
          </a:prstGeom>
          <a:solidFill>
            <a:srgbClr val="162233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3" name="Text 141"/>
          <p:cNvSpPr/>
          <p:nvPr/>
        </p:nvSpPr>
        <p:spPr>
          <a:xfrm>
            <a:off x="320040" y="4370832"/>
            <a:ext cx="8503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row (English):  B  C  L  N  M  I  A  D  Y  .   — vowels I, A  +  frequent consonants L, N, M all under the fingers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411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Optimized Layout  —  Java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result after 1,000 generations on the Java corpus (1,467,254 characters)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20040" y="9601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QWERTY  (Baseline)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" y="1389888"/>
            <a:ext cx="411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5895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5895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12471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2471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149047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6B2D1A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9047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85623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6B2D1A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5623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22199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6B2D1A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2199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58775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8775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95351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5351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1927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6B2D1A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1927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8503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6B2D1A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8503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05079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05079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20040" y="2048256"/>
            <a:ext cx="411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HME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5895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0D9488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895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12471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5276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2471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49047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9047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185623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85623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22199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2199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58775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5276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8775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95351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5351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31927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31927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68503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5276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8503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05079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0D9488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05079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20040" y="2706624"/>
            <a:ext cx="411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75895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5895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12471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12471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149047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49047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185623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85623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22199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22199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258775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6B2D1A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8775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295351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295351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331927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1927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368503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68503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05079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05079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663440" y="9601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 Optimized (Java)</a:t>
            </a:r>
            <a:endParaRPr lang="en-US" sz="1300" dirty="0"/>
          </a:p>
        </p:txBody>
      </p:sp>
      <p:sp>
        <p:nvSpPr>
          <p:cNvPr id="70" name="Text 68"/>
          <p:cNvSpPr/>
          <p:nvPr/>
        </p:nvSpPr>
        <p:spPr>
          <a:xfrm>
            <a:off x="4663440" y="1389888"/>
            <a:ext cx="411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510235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235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46811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46811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583387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583387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19963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9963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6539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6539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93115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93115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29691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29691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66267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66267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802843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2843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394192" y="1371600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394192" y="1371600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4663440" y="2048256"/>
            <a:ext cx="411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HME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510235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510235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546811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546811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583387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0D9488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583387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619963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5276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19963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656539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56539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693115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0D9488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93115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729691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0D9488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729691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766267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5276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766267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802843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02843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8394192" y="2029968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0D9488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8394192" y="2029968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4663440" y="2706624"/>
            <a:ext cx="411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510235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6B2D1A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510235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546811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46811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583387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6B2D1A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83387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000" dirty="0"/>
          </a:p>
        </p:txBody>
      </p:sp>
      <p:sp>
        <p:nvSpPr>
          <p:cNvPr id="119" name="Shape 117"/>
          <p:cNvSpPr/>
          <p:nvPr/>
        </p:nvSpPr>
        <p:spPr>
          <a:xfrm>
            <a:off x="619963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6B2D1A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619963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656539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56539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000" dirty="0"/>
          </a:p>
        </p:txBody>
      </p:sp>
      <p:sp>
        <p:nvSpPr>
          <p:cNvPr id="123" name="Shape 121"/>
          <p:cNvSpPr/>
          <p:nvPr/>
        </p:nvSpPr>
        <p:spPr>
          <a:xfrm>
            <a:off x="693115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6B2D1A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93115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000" dirty="0"/>
          </a:p>
        </p:txBody>
      </p:sp>
      <p:sp>
        <p:nvSpPr>
          <p:cNvPr id="125" name="Shape 123"/>
          <p:cNvSpPr/>
          <p:nvPr/>
        </p:nvSpPr>
        <p:spPr>
          <a:xfrm>
            <a:off x="729691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6B2D1A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729691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1000" dirty="0"/>
          </a:p>
        </p:txBody>
      </p:sp>
      <p:sp>
        <p:nvSpPr>
          <p:cNvPr id="127" name="Shape 125"/>
          <p:cNvSpPr/>
          <p:nvPr/>
        </p:nvSpPr>
        <p:spPr>
          <a:xfrm>
            <a:off x="766267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6B2D1A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766267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1000" dirty="0"/>
          </a:p>
        </p:txBody>
      </p:sp>
      <p:sp>
        <p:nvSpPr>
          <p:cNvPr id="129" name="Shape 127"/>
          <p:cNvSpPr/>
          <p:nvPr/>
        </p:nvSpPr>
        <p:spPr>
          <a:xfrm>
            <a:off x="802843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802843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00" dirty="0"/>
          </a:p>
        </p:txBody>
      </p:sp>
      <p:sp>
        <p:nvSpPr>
          <p:cNvPr id="131" name="Shape 129"/>
          <p:cNvSpPr/>
          <p:nvPr/>
        </p:nvSpPr>
        <p:spPr>
          <a:xfrm>
            <a:off x="8394192" y="2688336"/>
            <a:ext cx="338328" cy="530352"/>
          </a:xfrm>
          <a:prstGeom prst="roundRect">
            <a:avLst>
              <a:gd name="adj" fmla="val 10811"/>
            </a:avLst>
          </a:prstGeom>
          <a:solidFill>
            <a:srgbClr val="1A3A5C"/>
          </a:solidFill>
          <a:ln w="12700">
            <a:solidFill>
              <a:srgbClr val="2D4A6A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8394192" y="2688336"/>
            <a:ext cx="3383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000" dirty="0"/>
          </a:p>
        </p:txBody>
      </p:sp>
      <p:sp>
        <p:nvSpPr>
          <p:cNvPr id="133" name="Shape 131"/>
          <p:cNvSpPr/>
          <p:nvPr/>
        </p:nvSpPr>
        <p:spPr>
          <a:xfrm>
            <a:off x="4572000" y="960120"/>
            <a:ext cx="0" cy="2743200"/>
          </a:xfrm>
          <a:prstGeom prst="line">
            <a:avLst/>
          </a:prstGeom>
          <a:noFill/>
          <a:ln w="12700">
            <a:solidFill>
              <a:srgbClr val="0D9488"/>
            </a:solidFill>
            <a:prstDash val="dash"/>
          </a:ln>
        </p:spPr>
      </p:sp>
      <p:sp>
        <p:nvSpPr>
          <p:cNvPr id="134" name="Shape 132"/>
          <p:cNvSpPr/>
          <p:nvPr/>
        </p:nvSpPr>
        <p:spPr>
          <a:xfrm>
            <a:off x="320040" y="4041648"/>
            <a:ext cx="201168" cy="20116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66928" y="40233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Vowel (home row)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3154680" y="4041648"/>
            <a:ext cx="201168" cy="201168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3401568" y="40233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freq (home)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5989320" y="4041648"/>
            <a:ext cx="201168" cy="201168"/>
          </a:xfrm>
          <a:prstGeom prst="rect">
            <a:avLst/>
          </a:prstGeom>
          <a:solidFill>
            <a:srgbClr val="6B2D1A"/>
          </a:solidFill>
          <a:ln w="12700">
            <a:solidFill>
              <a:srgbClr val="6B2D1A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6236208" y="40233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freq (off-row)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320040" y="4370832"/>
            <a:ext cx="8503920" cy="594360"/>
          </a:xfrm>
          <a:prstGeom prst="rect">
            <a:avLst/>
          </a:prstGeom>
          <a:solidFill>
            <a:srgbClr val="162233"/>
          </a:solidFill>
          <a:ln w="12700">
            <a:solidFill>
              <a:srgbClr val="1E3A5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1" name="Text 139"/>
          <p:cNvSpPr/>
          <p:nvPr/>
        </p:nvSpPr>
        <p:spPr>
          <a:xfrm>
            <a:off x="320040" y="4370832"/>
            <a:ext cx="8503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row (Java):  Y  G  I  N  P  U  A  L  ;  V   — vowels I, U, A  +  semicolon ; on home row for Java syntax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64008" cy="41148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Advantages &amp; Limitations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genetic algorithms do well — and where they fall short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987552"/>
            <a:ext cx="4160520" cy="38404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0584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100584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Advantages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20040" y="1444752"/>
            <a:ext cx="41605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30! ≈ 2.65 × 10³² search space without exhaustive enumeration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Fitness function is data-driven — 2.37M real characters, authentic biomechanical model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Trigram-aware cost captures realistic multi-stroke typing dynamics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Elitism guarantees best layout is never lost between generations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corpus: swap to java.txt to optimize for programming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663440" y="987552"/>
            <a:ext cx="4160520" cy="38404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00584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138928" y="100584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Limitations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4663440" y="1444752"/>
            <a:ext cx="41605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Computationally expensive — 200 layouts × 6,978 trigrams per generation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guarantee of global optimum — result varies between runs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Optimized layouts need significant learning curve to adopt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Biomechanical model is an approximation of real typing strain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498848" y="987552"/>
            <a:ext cx="0" cy="3749040"/>
          </a:xfrm>
          <a:prstGeom prst="line">
            <a:avLst/>
          </a:prstGeom>
          <a:noFill/>
          <a:ln w="12700">
            <a:solidFill>
              <a:srgbClr val="94A3B8"/>
            </a:solidFill>
            <a:prstDash val="dash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6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28600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20040" y="457200"/>
            <a:ext cx="6858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F4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320040" y="1188720"/>
            <a:ext cx="8503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keyboard layout problem is too large for any exact method (30! ≈ 2.65 × 10³² possibilities). Genetic algorithms provide an effective evolutionary search — starting from random layouts and progressively breeding more ergonomic ones over 1,000 generations.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320040" y="2176272"/>
            <a:ext cx="8503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0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grounding the fitness function in the authentic Carpalx biomechanical model and 2.37 million real characters, the algorithm achieves a 49.4% reduction for English and 49.6% for Java vs QWERTY — with frequent characters naturally migrating to the home row under strong fingers.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0040" y="3218688"/>
            <a:ext cx="2651760" cy="1143000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320040" y="3236976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~49%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320040" y="3785616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 reduction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QWERTY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154680" y="3218688"/>
            <a:ext cx="2651760" cy="1143000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154680" y="3236976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30!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3154680" y="3785616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space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(≈ 10³² layouts)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89320" y="3218688"/>
            <a:ext cx="2651760" cy="1143000"/>
          </a:xfrm>
          <a:prstGeom prst="rect">
            <a:avLst/>
          </a:prstGeom>
          <a:solidFill>
            <a:srgbClr val="1A3A5C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5989320" y="3236976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1,000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5989320" y="3785616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converge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0" y="4736592"/>
            <a:ext cx="9144000" cy="402336"/>
          </a:xfrm>
          <a:prstGeom prst="rect">
            <a:avLst/>
          </a:prstGeom>
          <a:solidFill>
            <a:srgbClr val="060F1A"/>
          </a:solidFill>
          <a:ln w="12700">
            <a:solidFill>
              <a:srgbClr val="060F1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82880" y="4745736"/>
            <a:ext cx="8778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References: Krzywinski (2007) carpalx.bcgsc.ca  |  Eggers et al. (2020) researchgate.net  |  Norvig (2012) norvig.com  |  Goldberg (1989)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Keyboard Configuration using Genetic Algorithm</dc:title>
  <dc:subject>PptxGenJS Presentation</dc:subject>
  <dc:creator>Computer Science</dc:creator>
  <cp:lastModifiedBy>Computer Science</cp:lastModifiedBy>
  <cp:revision>1</cp:revision>
  <dcterms:created xsi:type="dcterms:W3CDTF">2026-03-23T09:16:24Z</dcterms:created>
  <dcterms:modified xsi:type="dcterms:W3CDTF">2026-03-23T09:16:24Z</dcterms:modified>
</cp:coreProperties>
</file>