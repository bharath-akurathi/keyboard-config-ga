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0" r:id="rId4"/>
    <p:sldId id="258" r:id="rId5"/>
    <p:sldId id="259" r:id="rId6"/>
    <p:sldId id="260" r:id="rId7"/>
    <p:sldId id="272" r:id="rId8"/>
    <p:sldId id="261" r:id="rId9"/>
    <p:sldId id="262" r:id="rId10"/>
    <p:sldId id="263" r:id="rId11"/>
    <p:sldId id="273" r:id="rId12"/>
    <p:sldId id="271" r:id="rId13"/>
    <p:sldId id="264" r:id="rId14"/>
    <p:sldId id="265" r:id="rId15"/>
    <p:sldId id="266" r:id="rId16"/>
    <p:sldId id="267" r:id="rId17"/>
    <p:sldId id="268" r:id="rId18"/>
    <p:sldId id="269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AA40CC-50B5-B48D-DDDA-CB052B549EA7}" v="2" dt="2026-03-23T13:31:28.640"/>
    <p1510:client id="{B9F13E21-BDC8-4096-A337-B679054C0F9F}" v="34" dt="2026-03-23T13:33:59.7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6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091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7432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96012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Keyboard</a:t>
            </a:r>
            <a:r>
              <a:rPr lang="en-US" sz="48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54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Configuration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320040" y="16916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</a:t>
            </a:r>
            <a:r>
              <a:rPr lang="en-US" sz="4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5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Genetic</a:t>
            </a:r>
            <a:r>
              <a:rPr lang="en-US" sz="4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5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320040" y="2542032"/>
            <a:ext cx="5029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20040" y="267004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Bio-Inspired Optimization for Ergonomic Typing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2004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|  Artificial Intelligence  |  Computer Science  |  Carpalx Biomechanical Model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4206240"/>
            <a:ext cx="2560320" cy="685800"/>
          </a:xfrm>
          <a:prstGeom prst="roundRect">
            <a:avLst>
              <a:gd name="adj" fmla="val 13333"/>
            </a:avLst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217920" y="42062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49.4% (English)  |  49.6% (Java)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with QWERTY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90525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world's most common keyboard is hurting your hands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97764" y="1424206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 was designed in 1873 for mechanical typewriters — to prevent type-arm jams, not to protect hands.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letters placed far from home row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workload on weak pinky &amp; ring fingers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pairs (TH, HE, ER) force awkward reaches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Left/right hand imbalance — left hand overloaded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94960" y="9601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 Layout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349240" y="137160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49240" y="137160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73852" y="137160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D4ED8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73852" y="137160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98464" y="137160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EF4444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98464" y="137160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23076" y="137160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D97706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23076" y="137160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47688" y="137160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EF4444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47688" y="137160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72300" y="137160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D4ED8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72300" y="137160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96912" y="137160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D4ED8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296912" y="137160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621524" y="137160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D97706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621524" y="137160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946136" y="137160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EF4444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946136" y="137160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270748" y="137160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D4ED8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270748" y="137160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32120" y="196596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EF4444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532120" y="196596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856732" y="196596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D97706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856732" y="196596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81344" y="196596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D4ED8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81344" y="196596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505956" y="196596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D4ED8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05956" y="196596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830568" y="196596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D4ED8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830568" y="196596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155180" y="196596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D97706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155180" y="196596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479792" y="196596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479792" y="196596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804404" y="196596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804404" y="196596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129016" y="196596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D4ED8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129016" y="196596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453628" y="196596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453628" y="196596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715000" y="256032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715000" y="256032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039612" y="256032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039612" y="256032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364224" y="256032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D4ED8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364224" y="256032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688836" y="256032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688836" y="256032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013448" y="256032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013448" y="256032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338060" y="256032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D97706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338060" y="256032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662672" y="256032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D4ED8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662672" y="256032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987284" y="256032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987284" y="256032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311896" y="256032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8311896" y="256032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636508" y="256032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8636508" y="256032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394960" y="3063240"/>
            <a:ext cx="164592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5577840" y="30358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freq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537960" y="3063240"/>
            <a:ext cx="16459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720840" y="30358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freq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680960" y="3063240"/>
            <a:ext cx="164592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7863840" y="30358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freq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65760" y="4206240"/>
            <a:ext cx="8412480" cy="68580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365760" y="42062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30!  =  2.65 × 10³²  possible keyboard arrangements  —  too many to search exhaustively  →  Genetic Algorithm required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4CB8952C-5C03-22D9-2745-488D0899B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0084"/>
            <a:ext cx="9144000" cy="346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6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19343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Medical Impact of Typing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68405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caused or worsened by inefficient keyboard layouts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287554"/>
            <a:ext cx="4023360" cy="150876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470434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39728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Carpal Tunnel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Syndrome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76072" y="2000786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nerve compressed by inflamed tendons. Numbness &amp; weakness in thumb/index fingers.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4709160" y="1287554"/>
            <a:ext cx="4023360" cy="150876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470434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139728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Tendonitis /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Tenosynovitis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873752" y="2000786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Tendon inflammation from repetitive micro-movements. Pain along the back of the hand.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Shape 9"/>
          <p:cNvSpPr/>
          <p:nvPr/>
        </p:nvSpPr>
        <p:spPr>
          <a:xfrm>
            <a:off x="411480" y="2979194"/>
            <a:ext cx="4023360" cy="150876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3162074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308892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Osteoarthritis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Aggravation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576072" y="3692426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Keypress micro-impacts worsen existing cartilage degradation in finger joints.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Shape 12"/>
          <p:cNvSpPr/>
          <p:nvPr/>
        </p:nvSpPr>
        <p:spPr>
          <a:xfrm>
            <a:off x="4709160" y="2979194"/>
            <a:ext cx="4023360" cy="150876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162074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94960" y="308892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 Finger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4873752" y="3692426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Narrowed sheath causes finger to lock in bent position — common in the dominant typing hand.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Genetic Algorithm?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Nature-inspired search — mimicking Darwinian evolution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672" y="612648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96012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7159752" y="248716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365760" y="2842990"/>
            <a:ext cx="8412480" cy="347472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GA?  The keyboard search space has 30! ≈ 2.65 × 10³² possibilities. No exact algorithm can search this — evolution can.</a:t>
            </a:r>
            <a:endParaRPr lang="en-US" sz="1250" dirty="0"/>
          </a:p>
          <a:p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365760" y="3268981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AECB5F06-0F76-E13B-71C3-524E8F0F4CE5}"/>
              </a:ext>
            </a:extLst>
          </p:cNvPr>
          <p:cNvSpPr txBox="1"/>
          <p:nvPr/>
        </p:nvSpPr>
        <p:spPr>
          <a:xfrm>
            <a:off x="265176" y="1143223"/>
            <a:ext cx="64922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Genetic Algorithm (GA) is an optimization technique modelled on natural selection. It starts with a population of random solutions and evolves them over thousands of generations — selecting the fittest, combining them, and introducing random mutations — until a near-optimal solution emerges.</a:t>
            </a:r>
            <a:endParaRPr lang="en-US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xmlns="" id="{59C3F8A8-12DC-717F-9BB2-BCE3EDA636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889" t="25249" r="10889" b="27371"/>
          <a:stretch>
            <a:fillRect/>
          </a:stretch>
        </p:blipFill>
        <p:spPr>
          <a:xfrm>
            <a:off x="2669638" y="3378528"/>
            <a:ext cx="3804724" cy="15363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 Concepts → Keyboard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59278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genetic algorithm concept maps directly to a keyboard design decision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819428"/>
              </p:ext>
            </p:extLst>
          </p:nvPr>
        </p:nvGraphicFramePr>
        <p:xfrm>
          <a:off x="365760" y="931509"/>
          <a:ext cx="8412480" cy="409651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0F4F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GA Concept</a:t>
                      </a:r>
                      <a:endParaRPr lang="en-US" sz="1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0F4F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Keyboard Mapping</a:t>
                      </a:r>
                      <a:endParaRPr lang="en-US" sz="1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Chromosome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complete 30-key layout  (Python list of 30 characters)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single character at a specific key position (index = physical slot)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randomly generated keyboard layouts evolving together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Fitness Function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÷ Carpalx effort score   →   lower effort = higher fitness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Tournament: pick best from 5 random layouts to become a parent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Crossover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OX1 Order Crossover — combines two parents, always valid permutation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 two random keys with 8% probability per child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Elitism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10% survive unchanged into the next generation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1,000 generations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C5C7101-3685-60B4-1E52-8A2CB2D4C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21"/>
            <a:ext cx="9144000" cy="513805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95302" y="4965290"/>
            <a:ext cx="1248697" cy="1754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COURTESY : </a:t>
            </a:r>
            <a:r>
              <a:rPr lang="en-US" sz="1000" b="1" dirty="0" err="1"/>
              <a:t>adumb</a:t>
            </a:r>
            <a:r>
              <a:rPr lang="en-US" sz="1000" dirty="0"/>
              <a:t> 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11655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Fitness Function — Carpalx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16636" y="65608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algorithm measures whether a layout is ergonomic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33756" y="1085850"/>
            <a:ext cx="8412480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333756" y="108585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Fitness  =  1 ÷  Σ  ( K1·e₁ + K2·e₂ + K3·e₃ )  ×  freq(trigram)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33756" y="1908810"/>
            <a:ext cx="4023360" cy="1325880"/>
          </a:xfrm>
          <a:prstGeom prst="rect">
            <a:avLst/>
          </a:prstGeom>
          <a:solidFill>
            <a:srgbClr val="162233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333756" y="1908810"/>
            <a:ext cx="64008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480060" y="186766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Trigram Path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2393442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K1=1.0, K2=0.367, K3=0.235 — each key in a 3-char sequence weighted by position. 2nd and 3rd keys cost less (finger already moving).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31436" y="1908810"/>
            <a:ext cx="4023360" cy="1325880"/>
          </a:xfrm>
          <a:prstGeom prst="rect">
            <a:avLst/>
          </a:prstGeom>
          <a:solidFill>
            <a:srgbClr val="162233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4631436" y="1908810"/>
            <a:ext cx="64008" cy="1325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4814316" y="1930909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Same-Finger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Penalty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14316" y="2393442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+1.5× the key's effort when two consecutive keys use the same finger. Primary mechanical cause of RSI.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33756" y="3371850"/>
            <a:ext cx="4023360" cy="1325880"/>
          </a:xfrm>
          <a:prstGeom prst="rect">
            <a:avLst/>
          </a:prstGeom>
          <a:solidFill>
            <a:srgbClr val="162233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6" name="Shape 14"/>
          <p:cNvSpPr/>
          <p:nvPr/>
        </p:nvSpPr>
        <p:spPr>
          <a:xfrm>
            <a:off x="333756" y="3371850"/>
            <a:ext cx="64008" cy="1325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516636" y="346329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Same-Hand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Penalty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9496" y="3846502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 when all 3 keys in a trigram land on one hand. Encourages hand alternation.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631436" y="3371850"/>
            <a:ext cx="4023360" cy="1325880"/>
          </a:xfrm>
          <a:prstGeom prst="rect">
            <a:avLst/>
          </a:prstGeom>
          <a:solidFill>
            <a:srgbClr val="162233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0" name="Shape 18"/>
          <p:cNvSpPr/>
          <p:nvPr/>
        </p:nvSpPr>
        <p:spPr>
          <a:xfrm>
            <a:off x="4631436" y="3371850"/>
            <a:ext cx="64008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4814316" y="3423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 Balance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Penalty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91456" y="3839251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left/right load imbalance across all bigrams. Max penalty = 200 for fully one-sided layouts.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— </a:t>
            </a:r>
            <a:r>
              <a:rPr lang="en-US" sz="3200" b="1" dirty="0" err="1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Carpalx</a:t>
            </a:r>
            <a:r>
              <a:rPr lang="en-US" sz="3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Corpus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6809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text drives real optimization — not toy frequencies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9140" y="169228"/>
            <a:ext cx="729100" cy="8457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216152"/>
            <a:ext cx="2560320" cy="123444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1289304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2,373,664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65760" y="1965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characters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3200400" y="1216152"/>
            <a:ext cx="2560320" cy="123444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200400" y="1289304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806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3200400" y="1965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bigrams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6035040" y="1216152"/>
            <a:ext cx="2560320" cy="123444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035040" y="1289304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6,978</a:t>
            </a:r>
            <a:endParaRPr lang="en-US" sz="4200" dirty="0"/>
          </a:p>
        </p:txBody>
      </p:sp>
      <p:sp>
        <p:nvSpPr>
          <p:cNvPr id="14" name="Text 11"/>
          <p:cNvSpPr/>
          <p:nvPr/>
        </p:nvSpPr>
        <p:spPr>
          <a:xfrm>
            <a:off x="6035040" y="1965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trigrams used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(after pruning)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365760" y="25786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 Classic Novels in the </a:t>
            </a:r>
            <a:r>
              <a:rPr lang="en-US" sz="1600" b="1" dirty="0" err="1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Carpalx</a:t>
            </a:r>
            <a:r>
              <a:rPr lang="en-US" sz="16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corpus: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65760" y="2926080"/>
            <a:ext cx="4023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Alice's Adventures in Wonderland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Dracula — Bram Stoker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Expectations — Dickens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Picture of Dorian Gray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Huckleberry Finn — Twain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 Eyre — Charlotte Brontë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Moby-Dick — Melville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4663440" y="2926080"/>
            <a:ext cx="4023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 of Monte Cristo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Pride and Prejudice — Austen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and Sensibility — Austen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Adventures of Sherlock Holmes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Sawyer — Mark Twain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Ulysses — James Joyce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Walden — Thoreau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 — Step by Step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4776" y="61950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GA evolves a better keyboard over 1,000 generations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856" y="50292"/>
            <a:ext cx="91440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47472" y="1005840"/>
            <a:ext cx="4572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47472" y="100584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1005840"/>
            <a:ext cx="7973568" cy="438912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914400" y="1005840"/>
            <a:ext cx="78821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corpus 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books_short.txt → extract 806 bigrams + 6,978 trigrams, normalize to per-1000 rates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347472" y="1513332"/>
            <a:ext cx="457200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47472" y="1513332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2960" y="1513332"/>
            <a:ext cx="7973568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914400" y="1513332"/>
            <a:ext cx="78821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Initialize 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200 random keyboard layouts — every character appears exactly once (valid permutations)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47472" y="2020824"/>
            <a:ext cx="4572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47472" y="202082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22960" y="2020824"/>
            <a:ext cx="7973568" cy="438912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14400" y="2020824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Evaluate fitness 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layout using the Carpalx effort formula. fitness = 1 / total_effort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47472" y="2528316"/>
            <a:ext cx="457200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47472" y="2528316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22960" y="2528316"/>
            <a:ext cx="7973568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1" name="Text 18"/>
          <p:cNvSpPr/>
          <p:nvPr/>
        </p:nvSpPr>
        <p:spPr>
          <a:xfrm>
            <a:off x="914400" y="2528316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Elitism 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top 10% (20 layouts) unchanged to the next generation — never lose a good layout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47472" y="3035808"/>
            <a:ext cx="4572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47472" y="3035808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22960" y="3035808"/>
            <a:ext cx="7973568" cy="438912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914400" y="303580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Tournament selection 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5 random layouts, pick the best-scoring one as Parent 1. Repeat for Parent 2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47472" y="3543300"/>
            <a:ext cx="457200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47472" y="354330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822960" y="3543300"/>
            <a:ext cx="7973568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9" name="Text 26"/>
          <p:cNvSpPr/>
          <p:nvPr/>
        </p:nvSpPr>
        <p:spPr>
          <a:xfrm>
            <a:off x="914400" y="354330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OX1 Crossover 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random segment from P1 into child, fill remaining slots from P2 in order — always valid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0" name="Shape 27"/>
          <p:cNvSpPr/>
          <p:nvPr/>
        </p:nvSpPr>
        <p:spPr>
          <a:xfrm>
            <a:off x="347472" y="4050792"/>
            <a:ext cx="4572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347472" y="4050792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822960" y="4050792"/>
            <a:ext cx="7973568" cy="438912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914400" y="405079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Swap Mutation 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8% probability, swap two random keys in the child layout to maintain diversity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4" name="Shape 31"/>
          <p:cNvSpPr/>
          <p:nvPr/>
        </p:nvSpPr>
        <p:spPr>
          <a:xfrm>
            <a:off x="347472" y="4558284"/>
            <a:ext cx="457200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347472" y="455828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822960" y="4558284"/>
            <a:ext cx="7973568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914400" y="4558284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Repeat 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old population with new generation. Repeat steps 3–7 for 1,000 generations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077" y="0"/>
            <a:ext cx="602384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427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0BB5A1F4-32A3-FE81-7163-E8D7AACDD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309" y="0"/>
            <a:ext cx="568138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512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 —  English Prose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614131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generations  |  Population 200  |  books_short.txt  |  2,373,664 characters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37160"/>
            <a:ext cx="822960" cy="822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960120"/>
            <a:ext cx="841248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9601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49.4%</a:t>
            </a:r>
            <a:endParaRPr lang="en-US" sz="5800" dirty="0"/>
          </a:p>
        </p:txBody>
      </p:sp>
      <p:sp>
        <p:nvSpPr>
          <p:cNvPr id="8" name="Text 5"/>
          <p:cNvSpPr/>
          <p:nvPr/>
        </p:nvSpPr>
        <p:spPr>
          <a:xfrm>
            <a:off x="3108960" y="100967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Reduction in typing effort vs QWERTY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108960" y="14630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3,521.37  →  1,781.59  Carpalx effort units   |   converged at Gen ~500</a:t>
            </a:r>
            <a:endParaRPr lang="en-US" sz="1600" b="1" dirty="0">
              <a:solidFill>
                <a:schemeClr val="bg1"/>
              </a:solidFill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485014"/>
              </p:ext>
            </p:extLst>
          </p:nvPr>
        </p:nvGraphicFramePr>
        <p:xfrm>
          <a:off x="365760" y="1993392"/>
          <a:ext cx="8412480" cy="2834643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0F4F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Metric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F444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QWERTY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4B8A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GA Optimized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 score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3,521.37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1,781.59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Finger travel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row frequent keys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Pinky / ring load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 balance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Uneven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 / 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Same-finger bigrams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 —  Java Code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56235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generations  |  Population 200  |  java.txt  |  1,467,254 characters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37160"/>
            <a:ext cx="822960" cy="822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960120"/>
            <a:ext cx="841248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65760" y="960120"/>
            <a:ext cx="27432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65760" y="9601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49.6%</a:t>
            </a:r>
            <a:endParaRPr lang="en-US" sz="5800" dirty="0"/>
          </a:p>
        </p:txBody>
      </p:sp>
      <p:sp>
        <p:nvSpPr>
          <p:cNvPr id="9" name="Text 6"/>
          <p:cNvSpPr/>
          <p:nvPr/>
        </p:nvSpPr>
        <p:spPr>
          <a:xfrm>
            <a:off x="3108960" y="105156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Reduction in typing effort vs QWERTY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108960" y="14630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3,745.99  →  1,886.61  Carpalx effort units   |   converged at Gen ~400</a:t>
            </a:r>
            <a:endParaRPr lang="en-US" sz="1600" b="1" dirty="0">
              <a:solidFill>
                <a:schemeClr val="bg1"/>
              </a:solidFill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964554"/>
              </p:ext>
            </p:extLst>
          </p:nvPr>
        </p:nvGraphicFramePr>
        <p:xfrm>
          <a:off x="365760" y="1993392"/>
          <a:ext cx="8412480" cy="2834643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0F4F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Metric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F444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QWERTY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4B8A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GA Optimized (Java)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 score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3,745.99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1,886.61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Finger travel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Semicolon ; placement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 smtClean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row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row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Vowels on home row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 smtClean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I, U, 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 balance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Uneven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 / 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Same-finger bigrams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Optimized Layout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33441" y="651200"/>
            <a:ext cx="8412480" cy="516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result after 1,000 generations on the Carpalx literary </a:t>
            </a:r>
            <a:r>
              <a:rPr lang="en-US" sz="12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</a:t>
            </a:r>
          </a:p>
          <a:p>
            <a:pPr marL="0" indent="0">
              <a:buNone/>
            </a:pPr>
            <a:r>
              <a:rPr lang="en-US" sz="1200" dirty="0" smtClean="0">
                <a:solidFill>
                  <a:schemeClr val="bg1"/>
                </a:solidFill>
              </a:rPr>
              <a:t>books_short.txt  --  </a:t>
            </a:r>
            <a:r>
              <a:rPr lang="en-US" sz="1200" dirty="0">
                <a:solidFill>
                  <a:schemeClr val="bg1"/>
                </a:solidFill>
              </a:rPr>
              <a:t>2,373,664 chars → 806 bigrams, 6,978 trigrams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104941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QWERTY  (Baseline)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534709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13232" y="1516421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1516421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78992" y="1516421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78992" y="1516421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44752" y="1516421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6B2D1A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44752" y="1516421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1516421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6B2D1A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810512" y="1516421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76272" y="1516421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6B2D1A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176272" y="1516421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42032" y="1516421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42032" y="1516421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07792" y="1516421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907792" y="1516421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73552" y="1516421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6B2D1A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73552" y="1516421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39312" y="1516421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6B2D1A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39312" y="1516421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005072" y="1516421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005072" y="1516421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2193077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13232" y="2174789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0D9488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3232" y="2174789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78992" y="2174789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5276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78992" y="2174789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444752" y="2174789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444752" y="2174789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810512" y="2174789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810512" y="2174789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176272" y="2174789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176272" y="2174789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542032" y="2174789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5276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542032" y="2174789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907792" y="2174789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907792" y="2174789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73552" y="2174789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273552" y="2174789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39312" y="2174789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5276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639312" y="2174789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005072" y="2174789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005072" y="2174789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74320" y="2851445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13232" y="2833157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13232" y="2833157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078992" y="2833157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078992" y="2833157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444752" y="2833157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444752" y="2833157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810512" y="2833157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810512" y="2833157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176272" y="2833157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176272" y="2833157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542032" y="2833157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6B2D1A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542032" y="2833157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907792" y="2833157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907792" y="2833157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273552" y="2833157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273552" y="2833157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639312" y="2833157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639312" y="2833157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005072" y="2833157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005072" y="2833157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617720" y="1104941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 Optimized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4617720" y="1534709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056632" y="1516421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5056632" y="1516421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422392" y="1516421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5422392" y="1516421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5788152" y="1516421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5788152" y="1516421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153912" y="1516421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6153912" y="1516421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519672" y="1516421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6519672" y="1516421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885432" y="1516421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6885432" y="1516421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251192" y="1516421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7251192" y="1516421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7616952" y="1516421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7616952" y="1516421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7982712" y="1516421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7982712" y="1516421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8348472" y="1516421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8348472" y="1516421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4617720" y="2193077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HME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5056632" y="2174789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5056632" y="2174789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5422392" y="2174789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5422392" y="2174789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5788152" y="2174789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5276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5788152" y="2174789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6153912" y="2174789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5276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6153912" y="2174789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6519672" y="2174789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6519672" y="2174789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6885432" y="2174789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0D9488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6885432" y="2174789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7251192" y="2174789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0D9488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7251192" y="2174789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7616952" y="2174789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7616952" y="2174789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7982712" y="2174789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7982712" y="2174789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8362187" y="2176649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113" name="Text 111"/>
          <p:cNvSpPr/>
          <p:nvPr/>
        </p:nvSpPr>
        <p:spPr>
          <a:xfrm>
            <a:off x="8759952" y="2029968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14" name="Text 112"/>
          <p:cNvSpPr/>
          <p:nvPr/>
        </p:nvSpPr>
        <p:spPr>
          <a:xfrm>
            <a:off x="4617720" y="2851445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5056632" y="2833157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5056632" y="2833157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5422392" y="2833157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5422392" y="2833157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5788152" y="2833157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6B2D1A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5788152" y="2833157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6153912" y="2833157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6B2D1A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6153912" y="2833157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6519672" y="2833157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6B2D1A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22"/>
          <p:cNvSpPr/>
          <p:nvPr/>
        </p:nvSpPr>
        <p:spPr>
          <a:xfrm>
            <a:off x="6519672" y="2833157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6885432" y="2833157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6B2D1A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/>
          <p:nvPr/>
        </p:nvSpPr>
        <p:spPr>
          <a:xfrm>
            <a:off x="6885432" y="2833157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7251192" y="2833157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6B2D1A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/>
          <p:nvPr/>
        </p:nvSpPr>
        <p:spPr>
          <a:xfrm>
            <a:off x="7251192" y="2833157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00" dirty="0"/>
          </a:p>
        </p:txBody>
      </p:sp>
      <p:sp>
        <p:nvSpPr>
          <p:cNvPr id="129" name="Shape 127"/>
          <p:cNvSpPr/>
          <p:nvPr/>
        </p:nvSpPr>
        <p:spPr>
          <a:xfrm>
            <a:off x="7616952" y="2833157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6B2D1A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8"/>
          <p:cNvSpPr/>
          <p:nvPr/>
        </p:nvSpPr>
        <p:spPr>
          <a:xfrm>
            <a:off x="7616952" y="2833157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000" dirty="0"/>
          </a:p>
        </p:txBody>
      </p:sp>
      <p:sp>
        <p:nvSpPr>
          <p:cNvPr id="131" name="Shape 129"/>
          <p:cNvSpPr/>
          <p:nvPr/>
        </p:nvSpPr>
        <p:spPr>
          <a:xfrm>
            <a:off x="7982712" y="2833157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/>
          <p:nvPr/>
        </p:nvSpPr>
        <p:spPr>
          <a:xfrm>
            <a:off x="7982712" y="2833157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000" dirty="0"/>
          </a:p>
        </p:txBody>
      </p:sp>
      <p:sp>
        <p:nvSpPr>
          <p:cNvPr id="133" name="Shape 131"/>
          <p:cNvSpPr/>
          <p:nvPr/>
        </p:nvSpPr>
        <p:spPr>
          <a:xfrm>
            <a:off x="8348472" y="2833157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32"/>
          <p:cNvSpPr/>
          <p:nvPr/>
        </p:nvSpPr>
        <p:spPr>
          <a:xfrm>
            <a:off x="8348472" y="2833157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000" dirty="0"/>
          </a:p>
        </p:txBody>
      </p:sp>
      <p:sp>
        <p:nvSpPr>
          <p:cNvPr id="135" name="Shape 133"/>
          <p:cNvSpPr/>
          <p:nvPr/>
        </p:nvSpPr>
        <p:spPr>
          <a:xfrm>
            <a:off x="4572000" y="1280160"/>
            <a:ext cx="0" cy="274320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320040" y="4041648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566928" y="40233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Vowel (home row)</a:t>
            </a:r>
            <a:endParaRPr lang="en-US" sz="1000" dirty="0"/>
          </a:p>
        </p:txBody>
      </p:sp>
      <p:sp>
        <p:nvSpPr>
          <p:cNvPr id="138" name="Shape 136"/>
          <p:cNvSpPr/>
          <p:nvPr/>
        </p:nvSpPr>
        <p:spPr>
          <a:xfrm>
            <a:off x="3154680" y="4041648"/>
            <a:ext cx="201168" cy="2011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137"/>
          <p:cNvSpPr/>
          <p:nvPr/>
        </p:nvSpPr>
        <p:spPr>
          <a:xfrm>
            <a:off x="3401568" y="40233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freq (home)</a:t>
            </a:r>
            <a:endParaRPr lang="en-US" sz="1000" dirty="0"/>
          </a:p>
        </p:txBody>
      </p:sp>
      <p:sp>
        <p:nvSpPr>
          <p:cNvPr id="140" name="Shape 138"/>
          <p:cNvSpPr/>
          <p:nvPr/>
        </p:nvSpPr>
        <p:spPr>
          <a:xfrm>
            <a:off x="5989320" y="4041648"/>
            <a:ext cx="201168" cy="201168"/>
          </a:xfrm>
          <a:prstGeom prst="rect">
            <a:avLst/>
          </a:prstGeom>
          <a:solidFill>
            <a:srgbClr val="6B2D1A"/>
          </a:solidFill>
          <a:ln w="12700">
            <a:solidFill>
              <a:srgbClr val="6B2D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139"/>
          <p:cNvSpPr/>
          <p:nvPr/>
        </p:nvSpPr>
        <p:spPr>
          <a:xfrm>
            <a:off x="6236208" y="40233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freq (off-row)</a:t>
            </a:r>
            <a:endParaRPr lang="en-US" sz="1000" dirty="0"/>
          </a:p>
        </p:txBody>
      </p:sp>
      <p:sp>
        <p:nvSpPr>
          <p:cNvPr id="142" name="Shape 140"/>
          <p:cNvSpPr/>
          <p:nvPr/>
        </p:nvSpPr>
        <p:spPr>
          <a:xfrm>
            <a:off x="320040" y="4370832"/>
            <a:ext cx="8503920" cy="59436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3" name="Text 141"/>
          <p:cNvSpPr/>
          <p:nvPr/>
        </p:nvSpPr>
        <p:spPr>
          <a:xfrm>
            <a:off x="320040" y="437083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row (English):  B  C  L  N  M  I  A  D  Y  .   — vowels I, A  +  frequent consonants L, N, M all under the fingers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Optimized Layout  —  Java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result after 1,000 generations on the Java corpus </a:t>
            </a:r>
            <a:endParaRPr lang="en-US" sz="1200" dirty="0" smtClean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java.txt … 1,467,254 chars → 861 bigrams, 6,861 trigrams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71909" y="1145365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QWERTY  (Baseline)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2608" y="1655064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63677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63677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63677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163677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63040" y="163677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6B2D1A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63040" y="163677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0" y="163677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6B2D1A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828800" y="163677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94560" y="163677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6B2D1A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194560" y="163677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0" y="163677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60320" y="163677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26080" y="163677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926080" y="163677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163677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6B2D1A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91840" y="163677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0" y="163677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6B2D1A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0" y="163677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023360" y="163677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023360" y="163677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2608" y="2313432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31520" y="2295144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0D9488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1520" y="2295144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97280" y="2295144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5276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97280" y="2295144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463040" y="2295144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463040" y="2295144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828800" y="2295144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828800" y="2295144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194560" y="2295144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194560" y="2295144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560320" y="2295144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5276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560320" y="2295144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926080" y="2295144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926080" y="2295144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91840" y="2295144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291840" y="2295144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0" y="2295144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5276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657600" y="2295144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023360" y="2295144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0D9488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023360" y="2295144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92608" y="297180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31520" y="2953512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31520" y="2953512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097280" y="2953512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097280" y="2953512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463040" y="2953512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463040" y="2953512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828800" y="2953512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828800" y="2953512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194560" y="2953512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194560" y="2953512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560320" y="2953512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6B2D1A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560320" y="2953512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926080" y="2953512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926080" y="2953512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291840" y="2953512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291840" y="2953512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657600" y="2953512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657600" y="2953512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023360" y="2953512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023360" y="2953512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715309" y="1145365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 Optimized (Java)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4636008" y="1655064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074920" y="163677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5074920" y="163677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440680" y="163677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5440680" y="163677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5806440" y="163677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5806440" y="163677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172200" y="163677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6172200" y="163677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537960" y="163677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6537960" y="163677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903720" y="163677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6903720" y="163677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269480" y="163677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7269480" y="163677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7635240" y="163677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7635240" y="163677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8001000" y="163677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8001000" y="163677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8366760" y="163677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8366760" y="163677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4636008" y="2313432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HME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5074920" y="2295144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5074920" y="2295144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5440680" y="2295144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5440680" y="2295144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5806440" y="2295144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0D9488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5806440" y="2295144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6172200" y="2295144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5276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6172200" y="2295144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6537960" y="2295144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6537960" y="2295144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6903720" y="2295144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0D9488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6903720" y="2295144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7269480" y="2295144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0D9488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7269480" y="2295144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7635240" y="2295144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5276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7635240" y="2295144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8374032" y="2295144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8366760" y="233220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8004636" y="2293918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0D9488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8004636" y="233220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000" dirty="0"/>
          </a:p>
        </p:txBody>
      </p:sp>
      <p:sp>
        <p:nvSpPr>
          <p:cNvPr id="112" name="Text 110"/>
          <p:cNvSpPr/>
          <p:nvPr/>
        </p:nvSpPr>
        <p:spPr>
          <a:xfrm>
            <a:off x="4636008" y="297180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5074920" y="2953512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6B2D1A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5074920" y="2953512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5440680" y="2953512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5440680" y="2953512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5806440" y="2953512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6B2D1A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5806440" y="2953512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6172200" y="2953512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6B2D1A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6172200" y="2953512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6537960" y="2953512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6537960" y="2953512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6903720" y="2953512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6B2D1A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22"/>
          <p:cNvSpPr/>
          <p:nvPr/>
        </p:nvSpPr>
        <p:spPr>
          <a:xfrm>
            <a:off x="6903720" y="2953512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7269480" y="2953512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6B2D1A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/>
          <p:nvPr/>
        </p:nvSpPr>
        <p:spPr>
          <a:xfrm>
            <a:off x="7269480" y="2953512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7635240" y="2953512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6B2D1A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/>
          <p:nvPr/>
        </p:nvSpPr>
        <p:spPr>
          <a:xfrm>
            <a:off x="7635240" y="2953512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00" dirty="0"/>
          </a:p>
        </p:txBody>
      </p:sp>
      <p:sp>
        <p:nvSpPr>
          <p:cNvPr id="129" name="Shape 127"/>
          <p:cNvSpPr/>
          <p:nvPr/>
        </p:nvSpPr>
        <p:spPr>
          <a:xfrm>
            <a:off x="8001000" y="2953512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8"/>
          <p:cNvSpPr/>
          <p:nvPr/>
        </p:nvSpPr>
        <p:spPr>
          <a:xfrm>
            <a:off x="8001000" y="2953512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31" name="Shape 129"/>
          <p:cNvSpPr/>
          <p:nvPr/>
        </p:nvSpPr>
        <p:spPr>
          <a:xfrm>
            <a:off x="8366760" y="2953512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/>
          <p:nvPr/>
        </p:nvSpPr>
        <p:spPr>
          <a:xfrm>
            <a:off x="8366760" y="2953512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00" dirty="0"/>
          </a:p>
        </p:txBody>
      </p:sp>
      <p:sp>
        <p:nvSpPr>
          <p:cNvPr id="133" name="Shape 131"/>
          <p:cNvSpPr/>
          <p:nvPr/>
        </p:nvSpPr>
        <p:spPr>
          <a:xfrm>
            <a:off x="4572000" y="1150178"/>
            <a:ext cx="0" cy="274320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320040" y="4041648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133"/>
          <p:cNvSpPr/>
          <p:nvPr/>
        </p:nvSpPr>
        <p:spPr>
          <a:xfrm>
            <a:off x="566928" y="40233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Vowel (home row)</a:t>
            </a:r>
            <a:endParaRPr lang="en-US" sz="1000" dirty="0"/>
          </a:p>
        </p:txBody>
      </p:sp>
      <p:sp>
        <p:nvSpPr>
          <p:cNvPr id="136" name="Shape 134"/>
          <p:cNvSpPr/>
          <p:nvPr/>
        </p:nvSpPr>
        <p:spPr>
          <a:xfrm>
            <a:off x="3154680" y="4041648"/>
            <a:ext cx="201168" cy="2011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3401568" y="40233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freq (home)</a:t>
            </a:r>
            <a:endParaRPr lang="en-US" sz="1000" dirty="0"/>
          </a:p>
        </p:txBody>
      </p:sp>
      <p:sp>
        <p:nvSpPr>
          <p:cNvPr id="138" name="Shape 136"/>
          <p:cNvSpPr/>
          <p:nvPr/>
        </p:nvSpPr>
        <p:spPr>
          <a:xfrm>
            <a:off x="5989320" y="4041648"/>
            <a:ext cx="201168" cy="201168"/>
          </a:xfrm>
          <a:prstGeom prst="rect">
            <a:avLst/>
          </a:prstGeom>
          <a:solidFill>
            <a:srgbClr val="6B2D1A"/>
          </a:solidFill>
          <a:ln w="12700">
            <a:solidFill>
              <a:srgbClr val="6B2D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137"/>
          <p:cNvSpPr/>
          <p:nvPr/>
        </p:nvSpPr>
        <p:spPr>
          <a:xfrm>
            <a:off x="6236208" y="40233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freq (off-row)</a:t>
            </a:r>
            <a:endParaRPr lang="en-US" sz="1000" dirty="0"/>
          </a:p>
        </p:txBody>
      </p:sp>
      <p:sp>
        <p:nvSpPr>
          <p:cNvPr id="140" name="Shape 138"/>
          <p:cNvSpPr/>
          <p:nvPr/>
        </p:nvSpPr>
        <p:spPr>
          <a:xfrm>
            <a:off x="320040" y="4370832"/>
            <a:ext cx="8503920" cy="59436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1" name="Text 139"/>
          <p:cNvSpPr/>
          <p:nvPr/>
        </p:nvSpPr>
        <p:spPr>
          <a:xfrm>
            <a:off x="320040" y="437083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row (Java):  Y  G  I  N  P  U  A  L </a:t>
            </a:r>
            <a:r>
              <a:rPr lang="en-US" sz="1400" b="1" dirty="0" smtClean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;  </a:t>
            </a: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</a:t>
            </a:r>
            <a:r>
              <a:rPr lang="en-US" sz="1400" b="1" dirty="0" smtClean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vowels I, U, A  +  semicolon ; on home row for Java syntax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Advantages &amp; Limitations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02325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genetic algorithms do well — and where </a:t>
            </a: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fall short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38328" y="969264"/>
            <a:ext cx="41605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452629" y="996696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5821" y="9966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Advantages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20040" y="1444752"/>
            <a:ext cx="4160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30! ≈ 2.65 × 10³² search space without exhaustive enumeration</a:t>
            </a:r>
            <a:endParaRPr lang="en-US" sz="1600" b="1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function is data-driven — 2.37M real characters, authentic biomechanical model</a:t>
            </a:r>
            <a:endParaRPr lang="en-US" sz="1600" b="1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Trigram-aware cost captures realistic multi-stroke typing dynamics</a:t>
            </a:r>
            <a:endParaRPr lang="en-US" sz="1600" b="1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Elitism guarantees best layout is never lost between generations</a:t>
            </a:r>
            <a:endParaRPr lang="en-US" sz="1600" b="1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corpus: swap to java.txt to optimize for programming</a:t>
            </a:r>
            <a:endParaRPr lang="en-US" sz="1600" b="1" dirty="0"/>
          </a:p>
        </p:txBody>
      </p:sp>
      <p:sp>
        <p:nvSpPr>
          <p:cNvPr id="9" name="Shape 6"/>
          <p:cNvSpPr/>
          <p:nvPr/>
        </p:nvSpPr>
        <p:spPr>
          <a:xfrm>
            <a:off x="4700016" y="963660"/>
            <a:ext cx="416052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207509" y="9819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663440" y="1444752"/>
            <a:ext cx="4160520" cy="24586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expensive — 200 layouts × 6,978 trigrams per generation</a:t>
            </a:r>
            <a:endParaRPr lang="en-US" sz="1600" b="1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guarantee of global optimum — result varies between runs</a:t>
            </a:r>
            <a:endParaRPr lang="en-US" sz="1600" b="1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layouts need significant learning curve to adopt</a:t>
            </a:r>
            <a:endParaRPr lang="en-US" sz="1600" b="1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Biomechanical model is an approximation of real typing strain</a:t>
            </a:r>
            <a:endParaRPr lang="en-US" sz="1600" b="1" dirty="0"/>
          </a:p>
        </p:txBody>
      </p:sp>
      <p:sp>
        <p:nvSpPr>
          <p:cNvPr id="13" name="Shape 9"/>
          <p:cNvSpPr/>
          <p:nvPr/>
        </p:nvSpPr>
        <p:spPr>
          <a:xfrm>
            <a:off x="4597171" y="987552"/>
            <a:ext cx="0" cy="37490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4823461" y="981948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2860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45720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20040" y="118872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keyboard layout problem is too large for any exact method (30! ≈ 2.65 × 10³² possibilities). Genetic algorithms provide an effective evolutionary search — starting from random layouts and progressively breeding more ergonomic ones over 1,000 generations.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320040" y="2176272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grounding the fitness function in the authentic Carpalx biomechanical model and 2.37 million real characters, the algorithm achieves a 49.4% reduction for English and 49.6% for Java vs QWERTY — with frequent characters naturally migrating to the home row under strong fingers.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320040" y="3218688"/>
            <a:ext cx="2651760" cy="1143000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20040" y="3236976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~49%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" y="378561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reduction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QWERTY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154680" y="3218688"/>
            <a:ext cx="2651760" cy="1143000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154680" y="3236976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30!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3154680" y="378561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(≈ 10³² layouts)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989320" y="3218688"/>
            <a:ext cx="2651760" cy="1143000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89320" y="3236976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1,000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5989320" y="378561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converge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060F1A"/>
          </a:solidFill>
          <a:ln w="12700">
            <a:solidFill>
              <a:srgbClr val="06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82880" y="4745736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Krzywinski (2007) carpalx.bcgsc.ca  |  Eggers et al. (2020) researchgate.net  |  Norvig (2012) norvig.com  |  Goldberg (1989)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1512</Words>
  <Application>Microsoft Office PowerPoint</Application>
  <PresentationFormat>On-screen Show (16:9)</PresentationFormat>
  <Paragraphs>384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Keyboard Configuration using Genetic Algorithm</dc:title>
  <dc:subject>PptxGenJS Presentation</dc:subject>
  <dc:creator>Computer Science</dc:creator>
  <cp:lastModifiedBy>ADMIN</cp:lastModifiedBy>
  <cp:revision>10</cp:revision>
  <dcterms:created xsi:type="dcterms:W3CDTF">2026-03-23T09:16:24Z</dcterms:created>
  <dcterms:modified xsi:type="dcterms:W3CDTF">2026-03-23T16:10:20Z</dcterms:modified>
</cp:coreProperties>
</file>